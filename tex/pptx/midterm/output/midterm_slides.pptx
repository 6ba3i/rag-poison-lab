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EF1A1A1-843C-42D9-87B4-1971BF6891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325E01D-0635-426C-877D-4A918971CE5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B088424-C5A4-4DA3-9005-02799204CC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1115B11-345B-4680-A101-8F3BBCD14C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DFD8D7A-48CB-48A2-9C13-FBEA8765A7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8AA9CBE-2A32-45FB-9F8F-A73AEEB268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922E85A-4999-427F-9B31-848F88EF90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A37DDD0-6548-4544-A2FB-37F79D4564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F57B126-7223-48AF-AEB9-8168C2B9DF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D52B1E5-C199-4407-AAFE-33F8A0965A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5E60D0B-A426-43C7-BB3F-02A09012FB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15293"/>
          </a:solidFill>
          <a:ln>
            <a:solidFill>
              <a:srgbClr val="11529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685800" y="1051560"/>
            <a:ext cx="1078920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Red-Teaming Large Language Model-Powered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Recommendation Systems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Midterm Presentation: RAG Poison Lab Framework, Attack Workflow, and Experiment Pipeline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731520" y="4389120"/>
            <a:ext cx="77716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Sbaaoui Idriss  |  Student ID: 22060004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Computer Science, </a:t>
            </a:r>
            <a:r>
              <a:rPr lang="zh-CN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华东理工大学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Supervisor: </a:t>
            </a:r>
            <a:r>
              <a:rPr lang="zh-CN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张恒润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1"/>
          <p:cNvSpPr/>
          <p:nvPr/>
        </p:nvSpPr>
        <p:spPr>
          <a:xfrm>
            <a:off x="0" y="0"/>
            <a:ext cx="12191040" cy="730800"/>
          </a:xfrm>
          <a:prstGeom prst="rect">
            <a:avLst/>
          </a:prstGeom>
          <a:solidFill>
            <a:srgbClr val="115293"/>
          </a:solidFill>
          <a:ln>
            <a:solidFill>
              <a:srgbClr val="11529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320040" y="128160"/>
            <a:ext cx="11246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Why this project exists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3"/>
          <p:cNvSpPr/>
          <p:nvPr/>
        </p:nvSpPr>
        <p:spPr>
          <a:xfrm>
            <a:off x="594360" y="2160720"/>
            <a:ext cx="1097208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141414"/>
                </a:solidFill>
                <a:effectLst/>
                <a:uFillTx/>
                <a:latin typeface="Calibri"/>
              </a:rPr>
              <a:t>Modern recommendation systems increasingly combine retrieval, ranking, and LLM-based reasoning.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141414"/>
                </a:solidFill>
                <a:effectLst/>
                <a:uFillTx/>
                <a:latin typeface="Calibri"/>
              </a:rPr>
              <a:t>If indexed content is poisoned, the final recommendation output can change without retraining the model.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141414"/>
                </a:solidFill>
                <a:effectLst/>
                <a:uFillTx/>
                <a:latin typeface="Calibri"/>
              </a:rPr>
              <a:t>RAGPoison is a controllable local lab for tracing that effect from data preparation to final top-K output.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141414"/>
                </a:solidFill>
                <a:effectLst/>
                <a:uFillTx/>
                <a:latin typeface="Calibri"/>
              </a:rPr>
              <a:t>The project goal is practical: measure how poisoning changes retrieval evidence, ranking, and user-visible recommendations.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320040" y="6537960"/>
            <a:ext cx="111549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ounded Rectangle 3"/>
          <p:cNvSpPr/>
          <p:nvPr/>
        </p:nvSpPr>
        <p:spPr>
          <a:xfrm>
            <a:off x="456480" y="1371600"/>
            <a:ext cx="5485680" cy="4754160"/>
          </a:xfrm>
          <a:prstGeom prst="roundRect">
            <a:avLst>
              <a:gd name="adj" fmla="val 16667"/>
            </a:avLst>
          </a:prstGeom>
          <a:solidFill>
            <a:srgbClr val="e9f1fa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Prepare MovieLens 100K data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Export baseline bulk and poisoned bulk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Index movies and movies_poisoned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 baseline vs attacked evaluation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Save metrics, traces, and reports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1"/>
          <p:cNvSpPr/>
          <p:nvPr/>
        </p:nvSpPr>
        <p:spPr>
          <a:xfrm>
            <a:off x="0" y="0"/>
            <a:ext cx="12191040" cy="730800"/>
          </a:xfrm>
          <a:prstGeom prst="rect">
            <a:avLst/>
          </a:prstGeom>
          <a:solidFill>
            <a:srgbClr val="115293"/>
          </a:solidFill>
          <a:ln>
            <a:solidFill>
              <a:srgbClr val="11529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320040" y="128160"/>
            <a:ext cx="11246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RAG Poison Lab framework overview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2008800" y="1966320"/>
            <a:ext cx="234000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15293"/>
                </a:solidFill>
                <a:effectLst/>
                <a:uFillTx/>
                <a:latin typeface="Calibri"/>
              </a:rPr>
              <a:t>Core workflow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1030320" y="2436120"/>
            <a:ext cx="5156640" cy="42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6"/>
          <p:cNvSpPr/>
          <p:nvPr/>
        </p:nvSpPr>
        <p:spPr>
          <a:xfrm>
            <a:off x="6172200" y="1371600"/>
            <a:ext cx="5439960" cy="4708800"/>
          </a:xfrm>
          <a:prstGeom prst="roundRect">
            <a:avLst>
              <a:gd name="adj" fmla="val 16667"/>
            </a:avLst>
          </a:prstGeom>
          <a:solidFill>
            <a:srgbClr val="e9f1fa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FastAPI backend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Poisoning / attack builder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Elasticsearch retrieval layer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Evaluation and reporting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 demo frontend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7"/>
          <p:cNvSpPr/>
          <p:nvPr/>
        </p:nvSpPr>
        <p:spPr>
          <a:xfrm>
            <a:off x="7574400" y="1965960"/>
            <a:ext cx="271224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15293"/>
                </a:solidFill>
                <a:effectLst/>
                <a:uFillTx/>
                <a:latin typeface="Calibri"/>
              </a:rPr>
              <a:t>Main subsystems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6336720" y="1755720"/>
            <a:ext cx="5110920" cy="32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9"/>
          <p:cNvSpPr/>
          <p:nvPr/>
        </p:nvSpPr>
        <p:spPr>
          <a:xfrm>
            <a:off x="320040" y="6903720"/>
            <a:ext cx="111549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2191040" cy="730800"/>
          </a:xfrm>
          <a:prstGeom prst="rect">
            <a:avLst/>
          </a:prstGeom>
          <a:solidFill>
            <a:srgbClr val="115293"/>
          </a:solidFill>
          <a:ln>
            <a:solidFill>
              <a:srgbClr val="11529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320040" y="128160"/>
            <a:ext cx="11246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Architecture and tools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3" descr="architecture.png"/>
          <p:cNvPicPr/>
          <p:nvPr/>
        </p:nvPicPr>
        <p:blipFill>
          <a:blip r:embed="rId1"/>
          <a:stretch/>
        </p:blipFill>
        <p:spPr>
          <a:xfrm>
            <a:off x="411480" y="960120"/>
            <a:ext cx="11337840" cy="5119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12191040" cy="730800"/>
          </a:xfrm>
          <a:prstGeom prst="rect">
            <a:avLst/>
          </a:prstGeom>
          <a:solidFill>
            <a:srgbClr val="115293"/>
          </a:solidFill>
          <a:ln>
            <a:solidFill>
              <a:srgbClr val="11529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320040" y="128160"/>
            <a:ext cx="11246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Dataset and indexing pipeline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3"/>
          <p:cNvSpPr/>
          <p:nvPr/>
        </p:nvSpPr>
        <p:spPr>
          <a:xfrm>
            <a:off x="411480" y="1600200"/>
            <a:ext cx="6400080" cy="4342680"/>
          </a:xfrm>
          <a:prstGeom prst="roundRect">
            <a:avLst>
              <a:gd name="adj" fmla="val 16667"/>
            </a:avLst>
          </a:prstGeom>
          <a:solidFill>
            <a:srgbClr val="e9f1fa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MovieLens 100K -&gt; movies / ratings / temporal splits / user profiles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Preprocess writes movies.parquet, ratings.parquet, splits.parquet, user_profiles.parquet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Bulk export produces es_bulk_movies.jsonl and es_bulk_poisoned_movies.jsonl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Indexing resolves mappings, validates bulk, and swaps aliases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2882880" y="1770120"/>
            <a:ext cx="136872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15293"/>
                </a:solidFill>
                <a:effectLst/>
                <a:uFillTx/>
                <a:latin typeface="Calibri"/>
              </a:rPr>
              <a:t>Pipeline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576000" y="1847160"/>
            <a:ext cx="607104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6"/>
          <p:cNvSpPr/>
          <p:nvPr/>
        </p:nvSpPr>
        <p:spPr>
          <a:xfrm>
            <a:off x="7086600" y="1600200"/>
            <a:ext cx="4434120" cy="4343040"/>
          </a:xfrm>
          <a:prstGeom prst="roundRect">
            <a:avLst>
              <a:gd name="adj" fmla="val 16667"/>
            </a:avLst>
          </a:prstGeom>
          <a:solidFill>
            <a:srgbClr val="e9f1fa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movies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movies_poisoned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BM25 lexical mapping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dense / hybrid retrieval support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7"/>
          <p:cNvSpPr/>
          <p:nvPr/>
        </p:nvSpPr>
        <p:spPr>
          <a:xfrm>
            <a:off x="8142480" y="2057400"/>
            <a:ext cx="228132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15293"/>
                </a:solidFill>
                <a:effectLst/>
                <a:uFillTx/>
                <a:latin typeface="Calibri"/>
              </a:rPr>
              <a:t>Index surfaces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8"/>
          <p:cNvSpPr/>
          <p:nvPr/>
        </p:nvSpPr>
        <p:spPr>
          <a:xfrm>
            <a:off x="7251120" y="2258640"/>
            <a:ext cx="410508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9"/>
          <p:cNvSpPr/>
          <p:nvPr/>
        </p:nvSpPr>
        <p:spPr>
          <a:xfrm>
            <a:off x="228600" y="6995160"/>
            <a:ext cx="2300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2191040" cy="730800"/>
          </a:xfrm>
          <a:prstGeom prst="rect">
            <a:avLst/>
          </a:prstGeom>
          <a:solidFill>
            <a:srgbClr val="115293"/>
          </a:solidFill>
          <a:ln>
            <a:solidFill>
              <a:srgbClr val="11529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320040" y="128160"/>
            <a:ext cx="11246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Clean vs poisoned recommendation workflow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Picture 3" descr="baseline_vs_attacked_workflow.png"/>
          <p:cNvPicPr/>
          <p:nvPr/>
        </p:nvPicPr>
        <p:blipFill>
          <a:blip r:embed="rId1"/>
          <a:stretch/>
        </p:blipFill>
        <p:spPr>
          <a:xfrm>
            <a:off x="228600" y="2286000"/>
            <a:ext cx="11566440" cy="2742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12191040" cy="730800"/>
          </a:xfrm>
          <a:prstGeom prst="rect">
            <a:avLst/>
          </a:prstGeom>
          <a:solidFill>
            <a:srgbClr val="115293"/>
          </a:solidFill>
          <a:ln>
            <a:solidFill>
              <a:srgbClr val="11529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320040" y="128160"/>
            <a:ext cx="11246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Attack types and experiment workflow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3"/>
          <p:cNvSpPr/>
          <p:nvPr/>
        </p:nvSpPr>
        <p:spPr>
          <a:xfrm>
            <a:off x="502920" y="1005840"/>
            <a:ext cx="5302800" cy="2056680"/>
          </a:xfrm>
          <a:prstGeom prst="roundRect">
            <a:avLst>
              <a:gd name="adj" fmla="val 16667"/>
            </a:avLst>
          </a:prstGeom>
          <a:solidFill>
            <a:srgbClr val="e9f1fa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targeted_promotion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prompt_injection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untargeted_degradation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1143000" y="1005840"/>
            <a:ext cx="40950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15293"/>
                </a:solidFill>
                <a:effectLst/>
                <a:uFillTx/>
                <a:latin typeface="Calibri"/>
              </a:rPr>
              <a:t>Implemented / configured attacks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5"/>
          <p:cNvSpPr/>
          <p:nvPr/>
        </p:nvSpPr>
        <p:spPr>
          <a:xfrm>
            <a:off x="667440" y="1389960"/>
            <a:ext cx="4973760" cy="10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6"/>
          <p:cNvSpPr/>
          <p:nvPr/>
        </p:nvSpPr>
        <p:spPr>
          <a:xfrm>
            <a:off x="502920" y="3246120"/>
            <a:ext cx="5302800" cy="2239560"/>
          </a:xfrm>
          <a:prstGeom prst="roundRect">
            <a:avLst>
              <a:gd name="adj" fmla="val 16667"/>
            </a:avLst>
          </a:prstGeom>
          <a:solidFill>
            <a:srgbClr val="e9f1fa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poison fraction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target movie id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payload text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keyword burst / aggressive boost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target fields: title, genres, synopsis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7"/>
          <p:cNvSpPr/>
          <p:nvPr/>
        </p:nvSpPr>
        <p:spPr>
          <a:xfrm>
            <a:off x="2057400" y="3246120"/>
            <a:ext cx="183060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115293"/>
                </a:solidFill>
                <a:effectLst/>
                <a:uFillTx/>
                <a:latin typeface="Calibri"/>
              </a:rPr>
              <a:t>Attack controls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8"/>
          <p:cNvSpPr/>
          <p:nvPr/>
        </p:nvSpPr>
        <p:spPr>
          <a:xfrm>
            <a:off x="667440" y="3630240"/>
            <a:ext cx="4973760" cy="17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9"/>
          <p:cNvSpPr/>
          <p:nvPr/>
        </p:nvSpPr>
        <p:spPr>
          <a:xfrm>
            <a:off x="6126480" y="1005840"/>
            <a:ext cx="5485680" cy="4479840"/>
          </a:xfrm>
          <a:prstGeom prst="roundRect">
            <a:avLst>
              <a:gd name="adj" fmla="val 16667"/>
            </a:avLst>
          </a:prstGeom>
          <a:solidFill>
            <a:srgbClr val="e9f1fa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set attack_config.json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prepare data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build poisoned bulk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index baseline + attacked corpora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 single / batch / full eval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generate metrics.json, attack_trace.json, summary.md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7583760" y="1371600"/>
            <a:ext cx="27032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15293"/>
                </a:solidFill>
                <a:effectLst/>
                <a:uFillTx/>
                <a:latin typeface="Calibri"/>
              </a:rPr>
              <a:t>Experiment execution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1"/>
          <p:cNvSpPr/>
          <p:nvPr/>
        </p:nvSpPr>
        <p:spPr>
          <a:xfrm>
            <a:off x="6291000" y="1389960"/>
            <a:ext cx="515664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0"/>
            <a:ext cx="12191040" cy="730800"/>
          </a:xfrm>
          <a:prstGeom prst="rect">
            <a:avLst/>
          </a:prstGeom>
          <a:solidFill>
            <a:srgbClr val="115293"/>
          </a:solidFill>
          <a:ln>
            <a:solidFill>
              <a:srgbClr val="11529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320040" y="128160"/>
            <a:ext cx="11246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Metrics and evaluation logic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3"/>
          <p:cNvSpPr/>
          <p:nvPr/>
        </p:nvSpPr>
        <p:spPr>
          <a:xfrm>
            <a:off x="594360" y="1143000"/>
            <a:ext cx="2925360" cy="657720"/>
          </a:xfrm>
          <a:prstGeom prst="rect">
            <a:avLst/>
          </a:prstGeom>
          <a:solidFill>
            <a:srgbClr val="e9f1fa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4"/>
          <p:cNvSpPr/>
          <p:nvPr/>
        </p:nvSpPr>
        <p:spPr>
          <a:xfrm>
            <a:off x="667440" y="1188720"/>
            <a:ext cx="2779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414"/>
                </a:solidFill>
                <a:effectLst/>
                <a:uFillTx/>
                <a:latin typeface="Calibri"/>
              </a:rPr>
              <a:t>HR@K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5"/>
          <p:cNvSpPr/>
          <p:nvPr/>
        </p:nvSpPr>
        <p:spPr>
          <a:xfrm>
            <a:off x="3520440" y="1143000"/>
            <a:ext cx="8046000" cy="657720"/>
          </a:xfrm>
          <a:prstGeom prst="rect">
            <a:avLst/>
          </a:prstGeom>
          <a:solidFill>
            <a:srgbClr val="f8fafc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6"/>
          <p:cNvSpPr/>
          <p:nvPr/>
        </p:nvSpPr>
        <p:spPr>
          <a:xfrm>
            <a:off x="3593520" y="1188720"/>
            <a:ext cx="78998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41414"/>
                </a:solidFill>
                <a:effectLst/>
                <a:uFillTx/>
                <a:latin typeface="Calibri"/>
              </a:rPr>
              <a:t>whether at least one relevant movie appears in the final top-K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7"/>
          <p:cNvSpPr/>
          <p:nvPr/>
        </p:nvSpPr>
        <p:spPr>
          <a:xfrm>
            <a:off x="594360" y="1801440"/>
            <a:ext cx="2925360" cy="657720"/>
          </a:xfrm>
          <a:prstGeom prst="rect">
            <a:avLst/>
          </a:prstGeom>
          <a:solidFill>
            <a:srgbClr val="e9f1fa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8"/>
          <p:cNvSpPr/>
          <p:nvPr/>
        </p:nvSpPr>
        <p:spPr>
          <a:xfrm>
            <a:off x="667440" y="1847160"/>
            <a:ext cx="2779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414"/>
                </a:solidFill>
                <a:effectLst/>
                <a:uFillTx/>
                <a:latin typeface="Calibri"/>
              </a:rPr>
              <a:t>NDCG@K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9"/>
          <p:cNvSpPr/>
          <p:nvPr/>
        </p:nvSpPr>
        <p:spPr>
          <a:xfrm>
            <a:off x="3520440" y="1801440"/>
            <a:ext cx="8046000" cy="657720"/>
          </a:xfrm>
          <a:prstGeom prst="rect">
            <a:avLst/>
          </a:prstGeom>
          <a:solidFill>
            <a:srgbClr val="f8fafc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0"/>
          <p:cNvSpPr/>
          <p:nvPr/>
        </p:nvSpPr>
        <p:spPr>
          <a:xfrm>
            <a:off x="3593520" y="1847160"/>
            <a:ext cx="78998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41414"/>
                </a:solidFill>
                <a:effectLst/>
                <a:uFillTx/>
                <a:latin typeface="Calibri"/>
              </a:rPr>
              <a:t>recommendation quality with position-aware gain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1"/>
          <p:cNvSpPr/>
          <p:nvPr/>
        </p:nvSpPr>
        <p:spPr>
          <a:xfrm>
            <a:off x="594360" y="2459880"/>
            <a:ext cx="2925360" cy="657720"/>
          </a:xfrm>
          <a:prstGeom prst="rect">
            <a:avLst/>
          </a:prstGeom>
          <a:solidFill>
            <a:srgbClr val="e9f1fa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12"/>
          <p:cNvSpPr/>
          <p:nvPr/>
        </p:nvSpPr>
        <p:spPr>
          <a:xfrm>
            <a:off x="667440" y="2505600"/>
            <a:ext cx="2779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414"/>
                </a:solidFill>
                <a:effectLst/>
                <a:uFillTx/>
                <a:latin typeface="Calibri"/>
              </a:rPr>
              <a:t>MRR@K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13"/>
          <p:cNvSpPr/>
          <p:nvPr/>
        </p:nvSpPr>
        <p:spPr>
          <a:xfrm>
            <a:off x="3520440" y="2459880"/>
            <a:ext cx="8046000" cy="657720"/>
          </a:xfrm>
          <a:prstGeom prst="rect">
            <a:avLst/>
          </a:prstGeom>
          <a:solidFill>
            <a:srgbClr val="f8fafc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14"/>
          <p:cNvSpPr/>
          <p:nvPr/>
        </p:nvSpPr>
        <p:spPr>
          <a:xfrm>
            <a:off x="3593520" y="2505600"/>
            <a:ext cx="78998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41414"/>
                </a:solidFill>
                <a:effectLst/>
                <a:uFillTx/>
                <a:latin typeface="Calibri"/>
              </a:rPr>
              <a:t>first-hit quality in the ranked list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15"/>
          <p:cNvSpPr/>
          <p:nvPr/>
        </p:nvSpPr>
        <p:spPr>
          <a:xfrm>
            <a:off x="594360" y="3117960"/>
            <a:ext cx="2925360" cy="657720"/>
          </a:xfrm>
          <a:prstGeom prst="rect">
            <a:avLst/>
          </a:prstGeom>
          <a:solidFill>
            <a:srgbClr val="e9f1fa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6"/>
          <p:cNvSpPr/>
          <p:nvPr/>
        </p:nvSpPr>
        <p:spPr>
          <a:xfrm>
            <a:off x="667440" y="3163680"/>
            <a:ext cx="2779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414"/>
                </a:solidFill>
                <a:effectLst/>
                <a:uFillTx/>
                <a:latin typeface="Calibri"/>
              </a:rPr>
              <a:t>ASR@K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17"/>
          <p:cNvSpPr/>
          <p:nvPr/>
        </p:nvSpPr>
        <p:spPr>
          <a:xfrm>
            <a:off x="3520440" y="3117960"/>
            <a:ext cx="8046000" cy="657720"/>
          </a:xfrm>
          <a:prstGeom prst="rect">
            <a:avLst/>
          </a:prstGeom>
          <a:solidFill>
            <a:srgbClr val="f8fafc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18"/>
          <p:cNvSpPr/>
          <p:nvPr/>
        </p:nvSpPr>
        <p:spPr>
          <a:xfrm>
            <a:off x="3593520" y="3163680"/>
            <a:ext cx="78998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41414"/>
                </a:solidFill>
                <a:effectLst/>
                <a:uFillTx/>
                <a:latin typeface="Calibri"/>
              </a:rPr>
              <a:t>whether the configured target movie appears in the final top-K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19"/>
          <p:cNvSpPr/>
          <p:nvPr/>
        </p:nvSpPr>
        <p:spPr>
          <a:xfrm>
            <a:off x="594360" y="3776400"/>
            <a:ext cx="2925360" cy="657720"/>
          </a:xfrm>
          <a:prstGeom prst="rect">
            <a:avLst/>
          </a:prstGeom>
          <a:solidFill>
            <a:srgbClr val="e9f1fa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0"/>
          <p:cNvSpPr/>
          <p:nvPr/>
        </p:nvSpPr>
        <p:spPr>
          <a:xfrm>
            <a:off x="667440" y="3822120"/>
            <a:ext cx="2779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414"/>
                </a:solidFill>
                <a:effectLst/>
                <a:uFillTx/>
                <a:latin typeface="Calibri"/>
              </a:rPr>
              <a:t>Target retrieval rank / presence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21"/>
          <p:cNvSpPr/>
          <p:nvPr/>
        </p:nvSpPr>
        <p:spPr>
          <a:xfrm>
            <a:off x="3520440" y="3776400"/>
            <a:ext cx="8046000" cy="657720"/>
          </a:xfrm>
          <a:prstGeom prst="rect">
            <a:avLst/>
          </a:prstGeom>
          <a:solidFill>
            <a:srgbClr val="f8fafc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2"/>
          <p:cNvSpPr/>
          <p:nvPr/>
        </p:nvSpPr>
        <p:spPr>
          <a:xfrm>
            <a:off x="3593520" y="3822120"/>
            <a:ext cx="78998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41414"/>
                </a:solidFill>
                <a:effectLst/>
                <a:uFillTx/>
                <a:latin typeface="Calibri"/>
              </a:rPr>
              <a:t>whether the target enters retrieval and how far it moves before final ranking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23"/>
          <p:cNvSpPr/>
          <p:nvPr/>
        </p:nvSpPr>
        <p:spPr>
          <a:xfrm>
            <a:off x="594360" y="4434840"/>
            <a:ext cx="2925360" cy="657720"/>
          </a:xfrm>
          <a:prstGeom prst="rect">
            <a:avLst/>
          </a:prstGeom>
          <a:solidFill>
            <a:srgbClr val="e9f1fa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24"/>
          <p:cNvSpPr/>
          <p:nvPr/>
        </p:nvSpPr>
        <p:spPr>
          <a:xfrm>
            <a:off x="667440" y="4480560"/>
            <a:ext cx="2779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414"/>
                </a:solidFill>
                <a:effectLst/>
                <a:uFillTx/>
                <a:latin typeface="Calibri"/>
              </a:rPr>
              <a:t>Trace + fallback metadata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25"/>
          <p:cNvSpPr/>
          <p:nvPr/>
        </p:nvSpPr>
        <p:spPr>
          <a:xfrm>
            <a:off x="3520440" y="4434840"/>
            <a:ext cx="8046000" cy="657720"/>
          </a:xfrm>
          <a:prstGeom prst="rect">
            <a:avLst/>
          </a:prstGeom>
          <a:solidFill>
            <a:srgbClr val="f8fafc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26"/>
          <p:cNvSpPr/>
          <p:nvPr/>
        </p:nvSpPr>
        <p:spPr>
          <a:xfrm>
            <a:off x="3593520" y="4480560"/>
            <a:ext cx="78998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41414"/>
                </a:solidFill>
                <a:effectLst/>
                <a:uFillTx/>
                <a:latin typeface="Calibri"/>
              </a:rPr>
              <a:t>whether reranking, strict retrieval, or fallback behavior affected interpretation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27"/>
          <p:cNvSpPr/>
          <p:nvPr/>
        </p:nvSpPr>
        <p:spPr>
          <a:xfrm>
            <a:off x="594360" y="5093280"/>
            <a:ext cx="2925360" cy="657720"/>
          </a:xfrm>
          <a:prstGeom prst="rect">
            <a:avLst/>
          </a:prstGeom>
          <a:solidFill>
            <a:srgbClr val="e9f1fa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28"/>
          <p:cNvSpPr/>
          <p:nvPr/>
        </p:nvSpPr>
        <p:spPr>
          <a:xfrm>
            <a:off x="667440" y="5139000"/>
            <a:ext cx="2779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414"/>
                </a:solidFill>
                <a:effectLst/>
                <a:uFillTx/>
                <a:latin typeface="Calibri"/>
              </a:rPr>
              <a:t>Latency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29"/>
          <p:cNvSpPr/>
          <p:nvPr/>
        </p:nvSpPr>
        <p:spPr>
          <a:xfrm>
            <a:off x="3520440" y="5093280"/>
            <a:ext cx="8046000" cy="657720"/>
          </a:xfrm>
          <a:prstGeom prst="rect">
            <a:avLst/>
          </a:prstGeom>
          <a:solidFill>
            <a:srgbClr val="f8fafc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30"/>
          <p:cNvSpPr/>
          <p:nvPr/>
        </p:nvSpPr>
        <p:spPr>
          <a:xfrm>
            <a:off x="3593520" y="5139000"/>
            <a:ext cx="78998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41414"/>
                </a:solidFill>
                <a:effectLst/>
                <a:uFillTx/>
                <a:latin typeface="Calibri"/>
              </a:rPr>
              <a:t>not yet a standard exported run metric in the current artifact set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"/>
          <p:cNvSpPr/>
          <p:nvPr/>
        </p:nvSpPr>
        <p:spPr>
          <a:xfrm>
            <a:off x="0" y="0"/>
            <a:ext cx="12191040" cy="730800"/>
          </a:xfrm>
          <a:prstGeom prst="rect">
            <a:avLst/>
          </a:prstGeom>
          <a:solidFill>
            <a:srgbClr val="115293"/>
          </a:solidFill>
          <a:ln>
            <a:solidFill>
              <a:srgbClr val="11529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2"/>
          <p:cNvSpPr/>
          <p:nvPr/>
        </p:nvSpPr>
        <p:spPr>
          <a:xfrm>
            <a:off x="320040" y="128160"/>
            <a:ext cx="11246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Frontend demo role and live walkthrough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3"/>
          <p:cNvSpPr/>
          <p:nvPr/>
        </p:nvSpPr>
        <p:spPr>
          <a:xfrm>
            <a:off x="503280" y="1463400"/>
            <a:ext cx="5439960" cy="4479840"/>
          </a:xfrm>
          <a:prstGeom prst="roundRect">
            <a:avLst>
              <a:gd name="adj" fmla="val 16667"/>
            </a:avLst>
          </a:prstGeom>
          <a:solidFill>
            <a:srgbClr val="e9f1fa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inspect settings and attack configuration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run experiments from the web UI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stream live orchestration logs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compare run outputs in a presentation-friendly view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inspect traces and recommendation diffs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4"/>
          <p:cNvSpPr/>
          <p:nvPr/>
        </p:nvSpPr>
        <p:spPr>
          <a:xfrm>
            <a:off x="1284480" y="1783440"/>
            <a:ext cx="374472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15293"/>
                </a:solidFill>
                <a:effectLst/>
                <a:uFillTx/>
                <a:latin typeface="Calibri"/>
              </a:rPr>
              <a:t>What the frontend is for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5"/>
          <p:cNvSpPr/>
          <p:nvPr/>
        </p:nvSpPr>
        <p:spPr>
          <a:xfrm>
            <a:off x="667800" y="1847520"/>
            <a:ext cx="511092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6"/>
          <p:cNvSpPr/>
          <p:nvPr/>
        </p:nvSpPr>
        <p:spPr>
          <a:xfrm>
            <a:off x="6218280" y="1463400"/>
            <a:ext cx="5439960" cy="4479840"/>
          </a:xfrm>
          <a:prstGeom prst="roundRect">
            <a:avLst>
              <a:gd name="adj" fmla="val 16667"/>
            </a:avLst>
          </a:prstGeom>
          <a:solidFill>
            <a:srgbClr val="e9f1fa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show Settings / attack configuration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launch a single-user experiment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follow SSE log stream in Experiments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open Results and the run summary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inspect trace / recommendation comparison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7"/>
          <p:cNvSpPr/>
          <p:nvPr/>
        </p:nvSpPr>
        <p:spPr>
          <a:xfrm>
            <a:off x="7357680" y="1783440"/>
            <a:ext cx="315792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15293"/>
                </a:solidFill>
                <a:effectLst/>
                <a:uFillTx/>
                <a:latin typeface="Calibri"/>
              </a:rPr>
              <a:t>Tonight's demo flow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8"/>
          <p:cNvSpPr/>
          <p:nvPr/>
        </p:nvSpPr>
        <p:spPr>
          <a:xfrm>
            <a:off x="6382800" y="1847520"/>
            <a:ext cx="511092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0" y="0"/>
            <a:ext cx="12191040" cy="730800"/>
          </a:xfrm>
          <a:prstGeom prst="rect">
            <a:avLst/>
          </a:prstGeom>
          <a:solidFill>
            <a:srgbClr val="115293"/>
          </a:solidFill>
          <a:ln>
            <a:solidFill>
              <a:srgbClr val="11529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2"/>
          <p:cNvSpPr/>
          <p:nvPr/>
        </p:nvSpPr>
        <p:spPr>
          <a:xfrm>
            <a:off x="320040" y="128160"/>
            <a:ext cx="11246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Current status, remaining work, and results placeholder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3"/>
          <p:cNvSpPr/>
          <p:nvPr/>
        </p:nvSpPr>
        <p:spPr>
          <a:xfrm>
            <a:off x="503280" y="1600200"/>
            <a:ext cx="5439960" cy="4205520"/>
          </a:xfrm>
          <a:prstGeom prst="roundRect">
            <a:avLst>
              <a:gd name="adj" fmla="val 16667"/>
            </a:avLst>
          </a:prstGeom>
          <a:solidFill>
            <a:srgbClr val="e9f1fa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 preparation pipeline implemented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poisoning and index build workflow implemented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baseline / attacked evaluation implemented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metrics, traces, and reports implemented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frontend demo surfaces implemented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4"/>
          <p:cNvSpPr/>
          <p:nvPr/>
        </p:nvSpPr>
        <p:spPr>
          <a:xfrm>
            <a:off x="914760" y="1907280"/>
            <a:ext cx="470916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15293"/>
                </a:solidFill>
                <a:effectLst/>
                <a:uFillTx/>
                <a:latin typeface="Calibri"/>
              </a:rPr>
              <a:t>Current implementation status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5"/>
          <p:cNvSpPr/>
          <p:nvPr/>
        </p:nvSpPr>
        <p:spPr>
          <a:xfrm>
            <a:off x="667800" y="1984320"/>
            <a:ext cx="5110920" cy="37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ounded Rectangle 6"/>
          <p:cNvSpPr/>
          <p:nvPr/>
        </p:nvSpPr>
        <p:spPr>
          <a:xfrm>
            <a:off x="6218280" y="1600200"/>
            <a:ext cx="5439960" cy="4251600"/>
          </a:xfrm>
          <a:prstGeom prst="roundRect">
            <a:avLst>
              <a:gd name="adj" fmla="val 16667"/>
            </a:avLst>
          </a:prstGeom>
          <a:solidFill>
            <a:srgbClr val="e9f1fa"/>
          </a:solidFill>
          <a:ln>
            <a:solidFill>
              <a:srgbClr val="2d75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finalize experiment matrix and thesis-grade analysis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stabilize provider-dependent rerank demos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decide final result tables and figures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add final conclusion only after experiment lock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7"/>
          <p:cNvSpPr/>
          <p:nvPr/>
        </p:nvSpPr>
        <p:spPr>
          <a:xfrm>
            <a:off x="7806600" y="1907280"/>
            <a:ext cx="225180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15293"/>
                </a:solidFill>
                <a:effectLst/>
                <a:uFillTx/>
                <a:latin typeface="Calibri"/>
              </a:rPr>
              <a:t>What remains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8"/>
          <p:cNvSpPr/>
          <p:nvPr/>
        </p:nvSpPr>
        <p:spPr>
          <a:xfrm>
            <a:off x="6382800" y="1984320"/>
            <a:ext cx="5110920" cy="31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LibreOffice/25.8.6.2$Linux_X86_64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2026-04-29T18:37:51Z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