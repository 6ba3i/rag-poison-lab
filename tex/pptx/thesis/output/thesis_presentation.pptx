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07265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4617676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8189329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3982280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08970393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9396871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2881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39150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9033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70F584-48D2-FEEF-0AE1-B77E3A538E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0049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5234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69463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3951FA-67AD-0D30-892D-12C42773F1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3145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91321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98120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27FD86-747C-5E39-F541-AE6968139E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94436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86002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264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21F478-4950-557E-FCB9-C77CDA12CB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84351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23627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6405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08C290-3D70-FFDD-FC45-B8DFED7ABC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69667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74458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69735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BC386F-7820-AB91-E070-73E68DFB78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24854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20250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0455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F729F3-7847-0EE4-2B66-86B782EB88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02424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3470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0171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0F0047-84CA-E8C1-7378-303268ED69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1901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8814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6508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D6DDEC-D165-B660-41D8-E14724176CF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54680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14546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24331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7B46A-8D0D-93C7-D3D9-7800CCAAC8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24994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00647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27675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1F1AF5-1F7B-D3D4-516A-E131220FCCC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60960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3625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03804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E76D82-1A00-D31D-28D2-7449523CA6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8772224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9686373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7036566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7288169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8984027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784052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4657318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248705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914366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105718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98639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430773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06101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554852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37158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73118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231098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1952373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478455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7895514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528049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62038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6208066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2113001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7051191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3012371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7534788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6113691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403185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86976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6923026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925427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344303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576721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301270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323723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021615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36707147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9047688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2315759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1606893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3726090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5316475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91173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06039281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2302673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1397193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6829837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30792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093001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320371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587482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77817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27655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0841406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8335658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015611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591474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6967735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8018095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9093125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39480907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194766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9194588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7317246" name="TextBox 2"/>
          <p:cNvSpPr txBox="1"/>
          <p:nvPr/>
        </p:nvSpPr>
        <p:spPr bwMode="auto">
          <a:xfrm>
            <a:off x="868680" y="10515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400" b="1">
                <a:solidFill>
                  <a:srgbClr val="FF6B35"/>
                </a:solidFill>
                <a:latin typeface="Consolas"/>
              </a:rPr>
              <a:t>DEFENSE // LOCAL BENCHMARK // TOP-K SECURITY</a:t>
            </a:r>
            <a:endParaRPr/>
          </a:p>
        </p:txBody>
      </p:sp>
      <p:sp>
        <p:nvSpPr>
          <p:cNvPr id="588741941" name="TextBox 3"/>
          <p:cNvSpPr txBox="1"/>
          <p:nvPr/>
        </p:nvSpPr>
        <p:spPr bwMode="auto">
          <a:xfrm>
            <a:off x="868680" y="19659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4000" b="1">
                <a:solidFill>
                  <a:srgbClr val="EAEEF5"/>
                </a:solidFill>
                <a:latin typeface="Aptos"/>
              </a:rPr>
              <a:t>RAG Poison Lab</a:t>
            </a:r>
            <a:endParaRPr/>
          </a:p>
        </p:txBody>
      </p:sp>
      <p:sp>
        <p:nvSpPr>
          <p:cNvPr id="1868029059" name="TextBox 4"/>
          <p:cNvSpPr txBox="1"/>
          <p:nvPr/>
        </p:nvSpPr>
        <p:spPr bwMode="auto">
          <a:xfrm>
            <a:off x="896112" y="2743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200" b="0">
                <a:solidFill>
                  <a:srgbClr val="C9D1E0"/>
                </a:solidFill>
                <a:latin typeface="Aptos"/>
              </a:rPr>
              <a:t>Red-Teaming LLM-Powered Recommendation Systems</a:t>
            </a:r>
            <a:endParaRPr/>
          </a:p>
        </p:txBody>
      </p:sp>
      <p:sp>
        <p:nvSpPr>
          <p:cNvPr id="1184582969" name="TextBox 5"/>
          <p:cNvSpPr txBox="1"/>
          <p:nvPr/>
        </p:nvSpPr>
        <p:spPr bwMode="auto">
          <a:xfrm>
            <a:off x="896112" y="4892038"/>
            <a:ext cx="9607679" cy="326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500" b="0">
                <a:solidFill>
                  <a:srgbClr val="6B7A99"/>
                </a:solidFill>
                <a:latin typeface="Aptos"/>
              </a:rPr>
              <a:t>Sbaaoui Idriss · Undergraduate Thesis · June 14th 2026 · 华东理工大学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1927109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4184321" name="TextBox 2"/>
          <p:cNvSpPr txBox="1"/>
          <p:nvPr/>
        </p:nvSpPr>
        <p:spPr bwMode="auto"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300" b="1">
                <a:solidFill>
                  <a:srgbClr val="EAEEF5"/>
                </a:solidFill>
                <a:latin typeface="Aptos"/>
              </a:rPr>
              <a:t>Problem: retrieved metadata becomes model-facing evidence</a:t>
            </a:r>
            <a:endParaRPr/>
          </a:p>
        </p:txBody>
      </p:sp>
      <p:sp>
        <p:nvSpPr>
          <p:cNvPr id="1774839312" name="Rectangle 3"/>
          <p:cNvSpPr/>
          <p:nvPr/>
        </p:nvSpPr>
        <p:spPr bwMode="auto">
          <a:xfrm>
            <a:off x="502920" y="713232"/>
            <a:ext cx="11155680" cy="10972"/>
          </a:xfrm>
          <a:prstGeom prst="rect">
            <a:avLst/>
          </a:prstGeom>
          <a:solidFill>
            <a:srgbClr val="1E2A45"/>
          </a:solidFill>
          <a:ln>
            <a:solidFill>
              <a:srgbClr val="1E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1602776" name="TextBox 4"/>
          <p:cNvSpPr txBox="1"/>
          <p:nvPr/>
        </p:nvSpPr>
        <p:spPr bwMode="auto">
          <a:xfrm>
            <a:off x="9738360" y="6547104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800" b="0">
                <a:solidFill>
                  <a:srgbClr val="6B7A99"/>
                </a:solidFill>
                <a:latin typeface="Aptos"/>
              </a:rPr>
              <a:t>RAG Poison Lab Defense | 2/13</a:t>
            </a:r>
            <a:endParaRPr/>
          </a:p>
        </p:txBody>
      </p:sp>
      <p:pic>
        <p:nvPicPr>
          <p:cNvPr id="259003694" name="Picture 5" descr="2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5800" y="987552"/>
            <a:ext cx="10835640" cy="60533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5984138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0236946" name="TextBox 2"/>
          <p:cNvSpPr txBox="1"/>
          <p:nvPr/>
        </p:nvSpPr>
        <p:spPr bwMode="auto"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300" b="1">
                <a:solidFill>
                  <a:srgbClr val="EAEEF5"/>
                </a:solidFill>
                <a:latin typeface="Aptos"/>
              </a:rPr>
              <a:t>Research Question and Contributions</a:t>
            </a:r>
            <a:endParaRPr/>
          </a:p>
        </p:txBody>
      </p:sp>
      <p:sp>
        <p:nvSpPr>
          <p:cNvPr id="1989418278" name="Rectangle 3"/>
          <p:cNvSpPr/>
          <p:nvPr/>
        </p:nvSpPr>
        <p:spPr bwMode="auto">
          <a:xfrm>
            <a:off x="502920" y="713232"/>
            <a:ext cx="11155680" cy="10972"/>
          </a:xfrm>
          <a:prstGeom prst="rect">
            <a:avLst/>
          </a:prstGeom>
          <a:solidFill>
            <a:srgbClr val="1E2A45"/>
          </a:solidFill>
          <a:ln>
            <a:solidFill>
              <a:srgbClr val="1E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9942702" name="TextBox 4"/>
          <p:cNvSpPr txBox="1"/>
          <p:nvPr/>
        </p:nvSpPr>
        <p:spPr bwMode="auto">
          <a:xfrm>
            <a:off x="9738360" y="6547104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800" b="0">
                <a:solidFill>
                  <a:srgbClr val="6B7A99"/>
                </a:solidFill>
                <a:latin typeface="Aptos"/>
              </a:rPr>
              <a:t>RAG Poison Lab Defense | 3/13</a:t>
            </a:r>
            <a:endParaRPr/>
          </a:p>
        </p:txBody>
      </p:sp>
      <p:pic>
        <p:nvPicPr>
          <p:cNvPr id="1479197994" name="Picture 5" descr="3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85512" y="987552"/>
            <a:ext cx="10190493" cy="56929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065065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32308694" name="TextBox 2"/>
          <p:cNvSpPr txBox="1"/>
          <p:nvPr/>
        </p:nvSpPr>
        <p:spPr bwMode="auto">
          <a:xfrm>
            <a:off x="502920" y="228600"/>
            <a:ext cx="10794599" cy="442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300" b="1">
                <a:solidFill>
                  <a:srgbClr val="EAEEF5"/>
                </a:solidFill>
                <a:latin typeface="Aptos"/>
              </a:rPr>
              <a:t>Related works</a:t>
            </a:r>
            <a:endParaRPr/>
          </a:p>
        </p:txBody>
      </p:sp>
      <p:sp>
        <p:nvSpPr>
          <p:cNvPr id="77408131" name="Rectangle 3"/>
          <p:cNvSpPr/>
          <p:nvPr/>
        </p:nvSpPr>
        <p:spPr bwMode="auto">
          <a:xfrm>
            <a:off x="502920" y="713232"/>
            <a:ext cx="11155680" cy="10972"/>
          </a:xfrm>
          <a:prstGeom prst="rect">
            <a:avLst/>
          </a:prstGeom>
          <a:solidFill>
            <a:srgbClr val="1E2A45"/>
          </a:solidFill>
          <a:ln>
            <a:solidFill>
              <a:srgbClr val="1E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5924712" name="TextBox 4"/>
          <p:cNvSpPr txBox="1"/>
          <p:nvPr/>
        </p:nvSpPr>
        <p:spPr bwMode="auto">
          <a:xfrm>
            <a:off x="9738360" y="6547104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800" b="0">
                <a:solidFill>
                  <a:srgbClr val="6B7A99"/>
                </a:solidFill>
                <a:latin typeface="Aptos"/>
              </a:rPr>
              <a:t>RAG Poison Lab Defense | 7/13</a:t>
            </a:r>
            <a:endParaRPr/>
          </a:p>
        </p:txBody>
      </p:sp>
      <p:pic>
        <p:nvPicPr>
          <p:cNvPr id="1697694807" name=""/>
          <p:cNvPicPr>
            <a:picLocks noChangeAspect="1"/>
          </p:cNvPicPr>
          <p:nvPr/>
        </p:nvPicPr>
        <p:blipFill rotWithShape="1">
          <a:blip r:embed="rId3"/>
          <a:srcRect l="-703" t="21640" r="703" b="10477"/>
          <a:stretch/>
        </p:blipFill>
        <p:spPr bwMode="auto">
          <a:xfrm flipH="0" flipV="0">
            <a:off x="171294" y="1226913"/>
            <a:ext cx="11624465" cy="44041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9873326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549904" name="TextBox 2"/>
          <p:cNvSpPr txBox="1"/>
          <p:nvPr/>
        </p:nvSpPr>
        <p:spPr bwMode="auto"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300" b="1">
                <a:solidFill>
                  <a:srgbClr val="EAEEF5"/>
                </a:solidFill>
                <a:latin typeface="Aptos"/>
              </a:rPr>
              <a:t>System Architecture</a:t>
            </a:r>
            <a:endParaRPr/>
          </a:p>
        </p:txBody>
      </p:sp>
      <p:sp>
        <p:nvSpPr>
          <p:cNvPr id="963460569" name="Rectangle 3"/>
          <p:cNvSpPr/>
          <p:nvPr/>
        </p:nvSpPr>
        <p:spPr bwMode="auto">
          <a:xfrm>
            <a:off x="502920" y="713232"/>
            <a:ext cx="11155680" cy="10972"/>
          </a:xfrm>
          <a:prstGeom prst="rect">
            <a:avLst/>
          </a:prstGeom>
          <a:solidFill>
            <a:srgbClr val="1E2A45"/>
          </a:solidFill>
          <a:ln>
            <a:solidFill>
              <a:srgbClr val="1E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6451335" name="TextBox 4"/>
          <p:cNvSpPr txBox="1"/>
          <p:nvPr/>
        </p:nvSpPr>
        <p:spPr bwMode="auto">
          <a:xfrm>
            <a:off x="9738360" y="6547104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800" b="0">
                <a:solidFill>
                  <a:srgbClr val="6B7A99"/>
                </a:solidFill>
                <a:latin typeface="Aptos"/>
              </a:rPr>
              <a:t>RAG Poison Lab Defense | 5/13</a:t>
            </a:r>
            <a:endParaRPr/>
          </a:p>
        </p:txBody>
      </p:sp>
      <p:pic>
        <p:nvPicPr>
          <p:cNvPr id="29224576" name="Picture 5" descr="4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5800" y="987552"/>
            <a:ext cx="10835640" cy="60533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192671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8655533" name="TextBox 2"/>
          <p:cNvSpPr txBox="1"/>
          <p:nvPr/>
        </p:nvSpPr>
        <p:spPr bwMode="auto"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300" b="1">
                <a:solidFill>
                  <a:srgbClr val="EAEEF5"/>
                </a:solidFill>
                <a:latin typeface="Aptos"/>
              </a:rPr>
              <a:t>Attack Scenarios</a:t>
            </a:r>
            <a:endParaRPr/>
          </a:p>
        </p:txBody>
      </p:sp>
      <p:sp>
        <p:nvSpPr>
          <p:cNvPr id="586589345" name="Rectangle 3"/>
          <p:cNvSpPr/>
          <p:nvPr/>
        </p:nvSpPr>
        <p:spPr bwMode="auto">
          <a:xfrm>
            <a:off x="502920" y="713232"/>
            <a:ext cx="11155680" cy="10972"/>
          </a:xfrm>
          <a:prstGeom prst="rect">
            <a:avLst/>
          </a:prstGeom>
          <a:solidFill>
            <a:srgbClr val="1E2A45"/>
          </a:solidFill>
          <a:ln>
            <a:solidFill>
              <a:srgbClr val="1E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4270243" name="TextBox 4"/>
          <p:cNvSpPr txBox="1"/>
          <p:nvPr/>
        </p:nvSpPr>
        <p:spPr bwMode="auto">
          <a:xfrm>
            <a:off x="9738360" y="6547104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800" b="0">
                <a:solidFill>
                  <a:srgbClr val="6B7A99"/>
                </a:solidFill>
                <a:latin typeface="Aptos"/>
              </a:rPr>
              <a:t>RAG Poison Lab Defense | 6/13</a:t>
            </a:r>
            <a:endParaRPr/>
          </a:p>
        </p:txBody>
      </p:sp>
      <p:pic>
        <p:nvPicPr>
          <p:cNvPr id="1664327784" name=""/>
          <p:cNvPicPr>
            <a:picLocks noChangeAspect="1"/>
          </p:cNvPicPr>
          <p:nvPr/>
        </p:nvPicPr>
        <p:blipFill rotWithShape="1">
          <a:blip r:embed="rId3"/>
          <a:srcRect l="0" t="13039" r="0" b="0"/>
          <a:stretch/>
        </p:blipFill>
        <p:spPr bwMode="auto">
          <a:xfrm flipH="0" flipV="0">
            <a:off x="390084" y="1424459"/>
            <a:ext cx="11381348" cy="44593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3140685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78733264" name="TextBox 2"/>
          <p:cNvSpPr txBox="1"/>
          <p:nvPr/>
        </p:nvSpPr>
        <p:spPr bwMode="auto"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300" b="1">
                <a:solidFill>
                  <a:srgbClr val="EAEEF5"/>
                </a:solidFill>
                <a:latin typeface="Aptos"/>
              </a:rPr>
              <a:t>Experimental Loop and Metrics</a:t>
            </a:r>
            <a:endParaRPr/>
          </a:p>
        </p:txBody>
      </p:sp>
      <p:sp>
        <p:nvSpPr>
          <p:cNvPr id="755349241" name="Rectangle 3"/>
          <p:cNvSpPr/>
          <p:nvPr/>
        </p:nvSpPr>
        <p:spPr bwMode="auto">
          <a:xfrm>
            <a:off x="502920" y="713232"/>
            <a:ext cx="11155680" cy="10972"/>
          </a:xfrm>
          <a:prstGeom prst="rect">
            <a:avLst/>
          </a:prstGeom>
          <a:solidFill>
            <a:srgbClr val="1E2A45"/>
          </a:solidFill>
          <a:ln>
            <a:solidFill>
              <a:srgbClr val="1E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640412" name="TextBox 4"/>
          <p:cNvSpPr txBox="1"/>
          <p:nvPr/>
        </p:nvSpPr>
        <p:spPr bwMode="auto">
          <a:xfrm>
            <a:off x="9738360" y="6547104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800" b="0">
                <a:solidFill>
                  <a:srgbClr val="6B7A99"/>
                </a:solidFill>
                <a:latin typeface="Aptos"/>
              </a:rPr>
              <a:t>RAG Poison Lab Defense | 8/13</a:t>
            </a:r>
            <a:endParaRPr/>
          </a:p>
        </p:txBody>
      </p:sp>
      <p:pic>
        <p:nvPicPr>
          <p:cNvPr id="1854104535" name="Picture 5" descr="6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85512" y="854186"/>
            <a:ext cx="10190493" cy="56929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2061510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00090" name="TextBox 2"/>
          <p:cNvSpPr txBox="1"/>
          <p:nvPr/>
        </p:nvSpPr>
        <p:spPr bwMode="auto"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300" b="1">
                <a:solidFill>
                  <a:srgbClr val="EAEEF5"/>
                </a:solidFill>
                <a:latin typeface="Aptos"/>
              </a:rPr>
              <a:t>Main Results: three distinct risk patterns</a:t>
            </a:r>
            <a:endParaRPr/>
          </a:p>
        </p:txBody>
      </p:sp>
      <p:sp>
        <p:nvSpPr>
          <p:cNvPr id="2013292275" name="Rectangle 3"/>
          <p:cNvSpPr/>
          <p:nvPr/>
        </p:nvSpPr>
        <p:spPr bwMode="auto">
          <a:xfrm>
            <a:off x="502920" y="713232"/>
            <a:ext cx="11155680" cy="10972"/>
          </a:xfrm>
          <a:prstGeom prst="rect">
            <a:avLst/>
          </a:prstGeom>
          <a:solidFill>
            <a:srgbClr val="1E2A45"/>
          </a:solidFill>
          <a:ln>
            <a:solidFill>
              <a:srgbClr val="1E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3902544" name="TextBox 4"/>
          <p:cNvSpPr txBox="1"/>
          <p:nvPr/>
        </p:nvSpPr>
        <p:spPr bwMode="auto">
          <a:xfrm>
            <a:off x="9738360" y="6547104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800" b="0">
                <a:solidFill>
                  <a:srgbClr val="6B7A99"/>
                </a:solidFill>
                <a:latin typeface="Aptos"/>
              </a:rPr>
              <a:t>RAG Poison Lab Defense | 9/13</a:t>
            </a:r>
            <a:endParaRPr/>
          </a:p>
        </p:txBody>
      </p:sp>
      <p:pic>
        <p:nvPicPr>
          <p:cNvPr id="147205183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145585" y="886614"/>
            <a:ext cx="9504587" cy="53048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7828175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3431102" name="TextBox 2"/>
          <p:cNvSpPr txBox="1"/>
          <p:nvPr/>
        </p:nvSpPr>
        <p:spPr bwMode="auto"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300" b="1">
                <a:solidFill>
                  <a:srgbClr val="EAEEF5"/>
                </a:solidFill>
                <a:latin typeface="Aptos"/>
              </a:rPr>
              <a:t>Experiments Page Screenshot</a:t>
            </a:r>
            <a:endParaRPr/>
          </a:p>
        </p:txBody>
      </p:sp>
      <p:sp>
        <p:nvSpPr>
          <p:cNvPr id="2124051014" name="Rectangle 3"/>
          <p:cNvSpPr/>
          <p:nvPr/>
        </p:nvSpPr>
        <p:spPr bwMode="auto">
          <a:xfrm>
            <a:off x="502920" y="713232"/>
            <a:ext cx="11155680" cy="10972"/>
          </a:xfrm>
          <a:prstGeom prst="rect">
            <a:avLst/>
          </a:prstGeom>
          <a:solidFill>
            <a:srgbClr val="1E2A45"/>
          </a:solidFill>
          <a:ln>
            <a:solidFill>
              <a:srgbClr val="1E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702596" name="TextBox 4"/>
          <p:cNvSpPr txBox="1"/>
          <p:nvPr/>
        </p:nvSpPr>
        <p:spPr bwMode="auto">
          <a:xfrm>
            <a:off x="9738360" y="6547104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800" b="0">
                <a:solidFill>
                  <a:srgbClr val="6B7A99"/>
                </a:solidFill>
                <a:latin typeface="Aptos"/>
              </a:rPr>
              <a:t>RAG Poison Lab Defense | 10/13</a:t>
            </a:r>
            <a:endParaRPr/>
          </a:p>
        </p:txBody>
      </p:sp>
      <p:pic>
        <p:nvPicPr>
          <p:cNvPr id="1479726858" name="Picture 5" descr="8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61985" y="902482"/>
            <a:ext cx="10267723" cy="57360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9230636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7876981" name="TextBox 2"/>
          <p:cNvSpPr txBox="1"/>
          <p:nvPr/>
        </p:nvSpPr>
        <p:spPr bwMode="auto"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300" b="1">
                <a:solidFill>
                  <a:srgbClr val="EAEEF5"/>
                </a:solidFill>
                <a:latin typeface="Aptos"/>
              </a:rPr>
              <a:t>Results Page Screenshot</a:t>
            </a:r>
            <a:endParaRPr/>
          </a:p>
        </p:txBody>
      </p:sp>
      <p:sp>
        <p:nvSpPr>
          <p:cNvPr id="1228335681" name="Rectangle 3"/>
          <p:cNvSpPr/>
          <p:nvPr/>
        </p:nvSpPr>
        <p:spPr bwMode="auto">
          <a:xfrm>
            <a:off x="502920" y="713232"/>
            <a:ext cx="11155680" cy="10972"/>
          </a:xfrm>
          <a:prstGeom prst="rect">
            <a:avLst/>
          </a:prstGeom>
          <a:solidFill>
            <a:srgbClr val="1E2A45"/>
          </a:solidFill>
          <a:ln>
            <a:solidFill>
              <a:srgbClr val="1E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5359675" name="TextBox 4"/>
          <p:cNvSpPr txBox="1"/>
          <p:nvPr/>
        </p:nvSpPr>
        <p:spPr bwMode="auto">
          <a:xfrm>
            <a:off x="9738360" y="6547104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800" b="0">
                <a:solidFill>
                  <a:srgbClr val="6B7A99"/>
                </a:solidFill>
                <a:latin typeface="Aptos"/>
              </a:rPr>
              <a:t>RAG Poison Lab Defense | 11/13</a:t>
            </a:r>
            <a:endParaRPr/>
          </a:p>
        </p:txBody>
      </p:sp>
      <p:pic>
        <p:nvPicPr>
          <p:cNvPr id="252987920" name="Picture 5" descr="9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165715" y="987552"/>
            <a:ext cx="9830088" cy="54915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6311748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1875332" name="TextBox 2"/>
          <p:cNvSpPr txBox="1"/>
          <p:nvPr/>
        </p:nvSpPr>
        <p:spPr bwMode="auto"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300" b="1">
                <a:solidFill>
                  <a:srgbClr val="EAEEF5"/>
                </a:solidFill>
                <a:latin typeface="Aptos"/>
              </a:rPr>
              <a:t>Security Interpretation, Limits, and Ethics</a:t>
            </a:r>
            <a:endParaRPr/>
          </a:p>
        </p:txBody>
      </p:sp>
      <p:sp>
        <p:nvSpPr>
          <p:cNvPr id="450914946" name="Rectangle 3"/>
          <p:cNvSpPr/>
          <p:nvPr/>
        </p:nvSpPr>
        <p:spPr bwMode="auto">
          <a:xfrm>
            <a:off x="502920" y="713232"/>
            <a:ext cx="11155680" cy="10972"/>
          </a:xfrm>
          <a:prstGeom prst="rect">
            <a:avLst/>
          </a:prstGeom>
          <a:solidFill>
            <a:srgbClr val="1E2A45"/>
          </a:solidFill>
          <a:ln>
            <a:solidFill>
              <a:srgbClr val="1E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7328810" name="TextBox 4"/>
          <p:cNvSpPr txBox="1"/>
          <p:nvPr/>
        </p:nvSpPr>
        <p:spPr bwMode="auto">
          <a:xfrm>
            <a:off x="9738360" y="6547104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800" b="0">
                <a:solidFill>
                  <a:srgbClr val="6B7A99"/>
                </a:solidFill>
                <a:latin typeface="Aptos"/>
              </a:rPr>
              <a:t>RAG Poison Lab Defense | 12/13</a:t>
            </a:r>
            <a:endParaRPr/>
          </a:p>
        </p:txBody>
      </p:sp>
      <p:pic>
        <p:nvPicPr>
          <p:cNvPr id="1269593275" name="Picture 5" descr="10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18477" y="858835"/>
            <a:ext cx="9958804" cy="55634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0113911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6118642" name="TextBox 2"/>
          <p:cNvSpPr txBox="1"/>
          <p:nvPr/>
        </p:nvSpPr>
        <p:spPr bwMode="auto"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300" b="1">
                <a:solidFill>
                  <a:srgbClr val="EAEEF5"/>
                </a:solidFill>
                <a:latin typeface="Aptos"/>
              </a:rPr>
              <a:t>Conclusion</a:t>
            </a:r>
            <a:endParaRPr/>
          </a:p>
        </p:txBody>
      </p:sp>
      <p:sp>
        <p:nvSpPr>
          <p:cNvPr id="1299681644" name="Rectangle 3"/>
          <p:cNvSpPr/>
          <p:nvPr/>
        </p:nvSpPr>
        <p:spPr bwMode="auto">
          <a:xfrm>
            <a:off x="502920" y="713232"/>
            <a:ext cx="11155680" cy="10972"/>
          </a:xfrm>
          <a:prstGeom prst="rect">
            <a:avLst/>
          </a:prstGeom>
          <a:solidFill>
            <a:srgbClr val="1E2A45"/>
          </a:solidFill>
          <a:ln>
            <a:solidFill>
              <a:srgbClr val="1E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9020931" name="TextBox 4"/>
          <p:cNvSpPr txBox="1"/>
          <p:nvPr/>
        </p:nvSpPr>
        <p:spPr bwMode="auto">
          <a:xfrm>
            <a:off x="9738360" y="6547104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800" b="0">
                <a:solidFill>
                  <a:srgbClr val="6B7A99"/>
                </a:solidFill>
                <a:latin typeface="Aptos"/>
              </a:rPr>
              <a:t>RAG Poison Lab Defense | 13/13</a:t>
            </a:r>
            <a:endParaRPr/>
          </a:p>
        </p:txBody>
      </p:sp>
      <p:pic>
        <p:nvPicPr>
          <p:cNvPr id="840332984" name="Picture 5" descr="11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15504" y="987552"/>
            <a:ext cx="10164750" cy="56785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3</cp:revision>
  <dcterms:created xsi:type="dcterms:W3CDTF">2013-01-27T09:14:16Z</dcterms:created>
  <dcterms:modified xsi:type="dcterms:W3CDTF">2026-06-10T11:38:32Z</dcterms:modified>
  <cp:category/>
</cp:coreProperties>
</file>